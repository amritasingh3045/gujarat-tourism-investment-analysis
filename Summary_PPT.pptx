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10"/>
  </p:normalViewPr>
  <p:slideViewPr>
    <p:cSldViewPr snapToGrid="0" snapToObjects="1">
      <p:cViewPr>
        <p:scale>
          <a:sx n="117" d="100"/>
          <a:sy n="117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22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82"/>
            <a:ext cx="9144000" cy="514350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E8A020"/>
                </a:solidFill>
              </a:rPr>
              <a:t>QUB GIFT CITY  |  DATATHON 2026  |  DATA FOR GOOD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Where Should
</a:t>
            </a:r>
            <a:r>
              <a:rPr lang="en-US" sz="4000" b="1" dirty="0">
                <a:solidFill>
                  <a:srgbClr val="E8A020"/>
                </a:solidFill>
              </a:rPr>
              <a:t>Gujarat's Rs 6,500 Crore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Actually Go?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3429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DD"/>
                </a:solidFill>
              </a:rPr>
              <a:t>A data-driven investment framework for inclusive, sustainable tourism growth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3557"/>
                </a:solidFill>
              </a:rPr>
              <a:t>2,364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480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3557"/>
                </a:solidFill>
              </a:rPr>
              <a:t>hotels analysed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651760" y="4480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3557"/>
                </a:solidFill>
              </a:rPr>
              <a:t>24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4480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3557"/>
                </a:solidFill>
              </a:rPr>
              <a:t>destinations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09160" y="4480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3557"/>
                </a:solidFill>
              </a:rPr>
              <a:t>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4480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3557"/>
                </a:solidFill>
              </a:rPr>
              <a:t>region types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66560" y="4480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3557"/>
                </a:solidFill>
              </a:rPr>
              <a:t>14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4480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3557"/>
                </a:solidFill>
              </a:rPr>
              <a:t>investment metrics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39776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82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3557"/>
                </a:solidFill>
              </a:rPr>
              <a:t>Investment is Chasing Footfall, Not Potential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2697480" cy="1078992"/>
          </a:xfrm>
          <a:prstGeom prst="roundRect">
            <a:avLst>
              <a:gd name="adj" fmla="val 8475"/>
            </a:avLst>
          </a:prstGeom>
          <a:solidFill>
            <a:srgbClr val="D94F3D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29844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55.8%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8F0"/>
                </a:solidFill>
              </a:rPr>
              <a:t>of all hotels in just 3 metros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E8F0"/>
                </a:solidFill>
              </a:rPr>
              <a:t>leaving heritage zones starved of supply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18688" y="1207008"/>
            <a:ext cx="2697480" cy="1078992"/>
          </a:xfrm>
          <a:prstGeom prst="roundRect">
            <a:avLst>
              <a:gd name="adj" fmla="val 8475"/>
            </a:avLst>
          </a:prstGeom>
          <a:solidFill>
            <a:srgbClr val="E8A02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18688" y="129844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22.8%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10128" y="171907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8F0"/>
                </a:solidFill>
              </a:rPr>
              <a:t>budget hotel share in heritage and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E8F0"/>
                </a:solidFill>
              </a:rPr>
              <a:t>pilgrimage zones — locking out domestic tourists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9904" y="1207008"/>
            <a:ext cx="2697480" cy="1078992"/>
          </a:xfrm>
          <a:prstGeom prst="roundRect">
            <a:avLst>
              <a:gd name="adj" fmla="val 8475"/>
            </a:avLst>
          </a:prstGeom>
          <a:solidFill>
            <a:srgbClr val="1C3557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9904" y="129844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26.3%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81344" y="171907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8F0"/>
                </a:solidFill>
              </a:rPr>
              <a:t>avg distress discount at Somnath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E8F0"/>
                </a:solidFill>
              </a:rPr>
              <a:t>hotels cutting prices just to survive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423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Hotel supply by region type:</a:t>
            </a:r>
            <a:endParaRPr lang="en-US" sz="900" dirty="0"/>
          </a:p>
        </p:txBody>
      </p:sp>
      <p:pic>
        <p:nvPicPr>
          <p:cNvPr id="16" name="Image 0" descr="/home/claude/chart_s2_region_hot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651760"/>
            <a:ext cx="8595360" cy="224942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47472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METHODOLOGY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3557"/>
                </a:solidFill>
              </a:rPr>
              <a:t>How We Built the Framework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6245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A7A6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62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0704" y="13624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557"/>
                </a:solidFill>
              </a:rPr>
              <a:t>Data Enrichment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0704" y="16916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Added 21 derived columns — price tiers, value score, facility tier, 6 region classifications, distance parsing and data quality flags across 2,364 hotels.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36592" y="12344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36245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D94F3D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62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9824" y="13624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557"/>
                </a:solidFill>
              </a:rPr>
              <a:t>Supply-Quality Mismatch Index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9824" y="16916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SQI = avg rating divided by log10 of hotel count. Captures destinations where quality is strong but supply is critically thin. Validated across all 24 destinations.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28346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6265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E8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62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" y="29626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557"/>
                </a:solidFill>
              </a:rPr>
              <a:t>Regional Equity Lens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0704" y="3291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Classified all 24 destinations into 6 region types. Measured budget hotel share per region. Mapped to Census 2011 literacy and population data.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36592" y="28346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96265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C3557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962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9824" y="29626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557"/>
                </a:solidFill>
              </a:rPr>
              <a:t>Data-Driven Budget Allocation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9824" y="3291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Ranked all 24 destinations into 3 tiers using SQI quartile thresholds. Budget split derived from destination count times supply gap severity.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4" y="4082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6B4FA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STATISTICAL MODELLING — SQI INDEX VALIDATION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3557"/>
                </a:solidFill>
              </a:rPr>
              <a:t>How the Supply-Quality Mismatch Index Was Validated</a:t>
            </a:r>
            <a:endParaRPr lang="en-US" sz="2400" dirty="0"/>
          </a:p>
        </p:txBody>
      </p:sp>
      <p:pic>
        <p:nvPicPr>
          <p:cNvPr id="6" name="Image 0" descr="/home/claude/chart_statis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" y="1121773"/>
            <a:ext cx="8631936" cy="324807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61772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4434840"/>
            <a:ext cx="4160520" cy="146304"/>
          </a:xfrm>
          <a:prstGeom prst="roundRect">
            <a:avLst>
              <a:gd name="adj" fmla="val 62500"/>
            </a:avLst>
          </a:prstGeom>
          <a:solidFill>
            <a:srgbClr val="1A7A6E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" y="5074920"/>
            <a:ext cx="394106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590288" y="4444963"/>
            <a:ext cx="4251960" cy="146304"/>
          </a:xfrm>
          <a:prstGeom prst="roundRect">
            <a:avLst>
              <a:gd name="adj" fmla="val 62500"/>
            </a:avLst>
          </a:prstGeom>
          <a:solidFill>
            <a:srgbClr val="D94F3D"/>
          </a:solidFill>
          <a:ln/>
        </p:spPr>
      </p:sp>
      <p:sp>
        <p:nvSpPr>
          <p:cNvPr id="13" name="Text 10"/>
          <p:cNvSpPr/>
          <p:nvPr/>
        </p:nvSpPr>
        <p:spPr>
          <a:xfrm>
            <a:off x="4773168" y="4800600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73168" y="5074920"/>
            <a:ext cx="40325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365760" y="4699036"/>
            <a:ext cx="8449056" cy="292608"/>
          </a:xfrm>
          <a:prstGeom prst="roundRect">
            <a:avLst>
              <a:gd name="adj" fmla="val 15625"/>
            </a:avLst>
          </a:prstGeom>
          <a:solidFill>
            <a:srgbClr val="6B4FA0"/>
          </a:solidFill>
          <a:ln/>
        </p:spPr>
      </p:sp>
      <p:sp>
        <p:nvSpPr>
          <p:cNvPr id="16" name="Text 13"/>
          <p:cNvSpPr/>
          <p:nvPr/>
        </p:nvSpPr>
        <p:spPr>
          <a:xfrm>
            <a:off x="347472" y="470916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STATISTICAL MODELLING — SQI composite index  |  Quartile analysis  |  Regression validation  |  Distribution analysis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082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DATA INSIGHT — SUPPLY-QUALITY MISMATCH INDEX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3557"/>
                </a:solidFill>
              </a:rPr>
              <a:t>The Index That Reveals Where Every Rupee Yields Most</a:t>
            </a:r>
            <a:endParaRPr lang="en-US" sz="2400" dirty="0"/>
          </a:p>
        </p:txBody>
      </p:sp>
      <p:pic>
        <p:nvPicPr>
          <p:cNvPr id="6" name="Image 0" descr="/home/claude/chart_s4_sq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85216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91072" y="1115568"/>
            <a:ext cx="263347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91072" y="1115568"/>
            <a:ext cx="2633472" cy="146304"/>
          </a:xfrm>
          <a:prstGeom prst="roundRect">
            <a:avLst>
              <a:gd name="adj" fmla="val 62500"/>
            </a:avLst>
          </a:prstGeom>
          <a:solidFill>
            <a:srgbClr val="D94F3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129844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Surendranagar — 4.24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157276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</a:rPr>
              <a:t>Only 7 hotels, rated 3.59. Highest quality-to-supply gap in all of Gujarat.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291072" y="2231136"/>
            <a:ext cx="263347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91072" y="2231136"/>
            <a:ext cx="2633472" cy="146304"/>
          </a:xfrm>
          <a:prstGeom prst="roundRect">
            <a:avLst>
              <a:gd name="adj" fmla="val 62500"/>
            </a:avLst>
          </a:prstGeom>
          <a:solidFill>
            <a:srgbClr val="D94F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41401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Patan — 3.92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268833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</a:rPr>
              <a:t>UNESCO heritage city. Highest rated destination in Gujarat. Only 10 hotels. Zero luxury.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6291072" y="3346704"/>
            <a:ext cx="263347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91072" y="3346704"/>
            <a:ext cx="2633472" cy="146304"/>
          </a:xfrm>
          <a:prstGeom prst="roundRect">
            <a:avLst>
              <a:gd name="adj" fmla="val 62500"/>
            </a:avLst>
          </a:prstGeom>
          <a:solidFill>
            <a:srgbClr val="1A7A6E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35295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Ahmedabad — 1.29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0800" y="38039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</a:rPr>
              <a:t>480 hotels already. Lowest SQI. Adding more investment here yields the lowest return.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GEOGRAPHIC ANALYSIS — INVESTMENT TIER 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3557"/>
                </a:solidFill>
              </a:rPr>
              <a:t>Where Are These Destinations? Spatial Distribution Across Gujarat</a:t>
            </a:r>
            <a:endParaRPr lang="en-US" sz="2400" dirty="0"/>
          </a:p>
        </p:txBody>
      </p:sp>
      <p:pic>
        <p:nvPicPr>
          <p:cNvPr id="6" name="Image 0" descr="/home/claude/chart_geo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78992"/>
            <a:ext cx="5943600" cy="38221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115568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355080" y="1115568"/>
            <a:ext cx="2560320" cy="146304"/>
          </a:xfrm>
          <a:prstGeom prst="roundRect">
            <a:avLst>
              <a:gd name="adj" fmla="val 62500"/>
            </a:avLst>
          </a:prstGeom>
          <a:solidFill>
            <a:srgbClr val="D94F3D"/>
          </a:solidFill>
          <a:ln/>
        </p:spPr>
      </p:sp>
      <p:sp>
        <p:nvSpPr>
          <p:cNvPr id="9" name="Text 6"/>
          <p:cNvSpPr/>
          <p:nvPr/>
        </p:nvSpPr>
        <p:spPr>
          <a:xfrm>
            <a:off x="6464808" y="129844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Tier 1 — Northwest cluster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64808" y="1572768"/>
            <a:ext cx="2340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</a:rPr>
              <a:t>Patan, Ambaji (Banaskantha), Surendranagar — all underserved despite proximity to Ahmedabad. Easy to reach, hard to stay.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355080" y="2176272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55080" y="2176272"/>
            <a:ext cx="2560320" cy="146304"/>
          </a:xfrm>
          <a:prstGeom prst="roundRect">
            <a:avLst>
              <a:gd name="adj" fmla="val 62500"/>
            </a:avLst>
          </a:prstGeom>
          <a:solidFill>
            <a:srgbClr val="D94F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64808" y="23591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Tier 1 — Coastal spread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64808" y="2633472"/>
            <a:ext cx="2340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</a:rPr>
              <a:t>Porbandar, Bhavnagar, Jamnagar, Navsari, Valsad — coastline stretching 1,600 km with almost no quality hotel supply.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6355080" y="3236976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55080" y="3236976"/>
            <a:ext cx="2560320" cy="146304"/>
          </a:xfrm>
          <a:prstGeom prst="roundRect">
            <a:avLst>
              <a:gd name="adj" fmla="val 62500"/>
            </a:avLst>
          </a:prstGeom>
          <a:solidFill>
            <a:srgbClr val="1A7A6E"/>
          </a:solidFill>
          <a:ln/>
        </p:spPr>
      </p:sp>
      <p:sp>
        <p:nvSpPr>
          <p:cNvPr id="17" name="Text 14"/>
          <p:cNvSpPr/>
          <p:nvPr/>
        </p:nvSpPr>
        <p:spPr>
          <a:xfrm>
            <a:off x="6464808" y="341985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Tier 3 — Central cluster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64808" y="3694176"/>
            <a:ext cx="2340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</a:rPr>
              <a:t>Ahmedabad, Surat, Gandhinagar form a triangle already saturated with hotels. Investment here reaches furthest by redirecting tourists outward.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6291072" y="420624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Shape 17"/>
          <p:cNvSpPr/>
          <p:nvPr/>
        </p:nvSpPr>
        <p:spPr>
          <a:xfrm>
            <a:off x="6327648" y="4217670"/>
            <a:ext cx="2560320" cy="146304"/>
          </a:xfrm>
          <a:prstGeom prst="roundRect">
            <a:avLst>
              <a:gd name="adj" fmla="val 62500"/>
            </a:avLst>
          </a:prstGeom>
          <a:solidFill>
            <a:srgbClr val="E8A020"/>
          </a:solidFill>
          <a:ln/>
        </p:spPr>
      </p:sp>
      <p:sp>
        <p:nvSpPr>
          <p:cNvPr id="21" name="Text 18"/>
          <p:cNvSpPr/>
          <p:nvPr/>
        </p:nvSpPr>
        <p:spPr>
          <a:xfrm>
            <a:off x="6464808" y="448056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Geographic insight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64808" y="4754880"/>
            <a:ext cx="2340864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333333"/>
                </a:solidFill>
              </a:rPr>
              <a:t>Tier 1 destinations form a ring around the metros — close enough to access, far enough to disperse tourist pressure.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347472" y="4709160"/>
            <a:ext cx="8449056" cy="292608"/>
          </a:xfrm>
          <a:prstGeom prst="roundRect">
            <a:avLst>
              <a:gd name="adj" fmla="val 15625"/>
            </a:avLst>
          </a:prstGeom>
          <a:solidFill>
            <a:srgbClr val="1A7A6E"/>
          </a:solidFill>
          <a:ln/>
        </p:spPr>
      </p:sp>
      <p:sp>
        <p:nvSpPr>
          <p:cNvPr id="24" name="Text 21"/>
          <p:cNvSpPr/>
          <p:nvPr/>
        </p:nvSpPr>
        <p:spPr>
          <a:xfrm>
            <a:off x="347472" y="470916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GEOGRAPHIC ANALYSIS — Spatial distribution of investment tiers across Gujarat districts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DEEP DIVE — TOP 3 INVESTMENT PRIORITY DESTINATIONS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3557"/>
                </a:solidFill>
              </a:rPr>
              <a:t>Top 3 Destinations by SQI — What the Data Shows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651760" cy="713232"/>
          </a:xfrm>
          <a:prstGeom prst="roundRect">
            <a:avLst>
              <a:gd name="adj" fmla="val 12821"/>
            </a:avLst>
          </a:prstGeom>
          <a:solidFill>
            <a:srgbClr val="D94F3D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15214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Patan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4173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E8F0"/>
                </a:solidFill>
              </a:rPr>
              <a:t>UNESCO Heritage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4F3D"/>
                </a:solidFill>
              </a:rPr>
              <a:t>Rating: 3.92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34440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4F3D"/>
                </a:solidFill>
              </a:rPr>
              <a:t>Hotels: 10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39112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4F3D"/>
                </a:solidFill>
              </a:rPr>
              <a:t>SQI: 3.92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115568"/>
            <a:ext cx="2651760" cy="713232"/>
          </a:xfrm>
          <a:prstGeom prst="roundRect">
            <a:avLst>
              <a:gd name="adj" fmla="val 12821"/>
            </a:avLst>
          </a:prstGeom>
          <a:solidFill>
            <a:srgbClr val="6B4FA0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15214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Surendranagar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4173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E8F0"/>
                </a:solidFill>
              </a:rPr>
              <a:t>Crafts Hub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10128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4FA0"/>
                </a:solidFill>
              </a:rPr>
              <a:t>Rating: 3.59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0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4FA0"/>
                </a:solidFill>
              </a:rPr>
              <a:t>Hotels: 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19472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4FA0"/>
                </a:solidFill>
              </a:rPr>
              <a:t>SQI: 4.24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80760" y="1115568"/>
            <a:ext cx="2651760" cy="713232"/>
          </a:xfrm>
          <a:prstGeom prst="roundRect">
            <a:avLst>
              <a:gd name="adj" fmla="val 12821"/>
            </a:avLst>
          </a:prstGeom>
          <a:solidFill>
            <a:srgbClr val="1A7A6E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115214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Saputara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0488" y="14173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E8F0"/>
                </a:solidFill>
              </a:rPr>
              <a:t>Only Hill Station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90488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6E"/>
                </a:solidFill>
              </a:rPr>
              <a:t>Rating: 3.81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995160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6E"/>
                </a:solidFill>
              </a:rPr>
              <a:t>Hotels: 28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799832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6E"/>
                </a:solidFill>
              </a:rPr>
              <a:t>SQI: 2.63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20299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3557"/>
                </a:solidFill>
              </a:rPr>
              <a:t>Hotel price tier breakdown:</a:t>
            </a:r>
            <a:endParaRPr lang="en-US" sz="850" dirty="0"/>
          </a:p>
        </p:txBody>
      </p:sp>
      <p:pic>
        <p:nvPicPr>
          <p:cNvPr id="25" name="Image 0" descr="/home/claude/chart_s5_price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231136"/>
            <a:ext cx="5486400" cy="26974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897880" y="20299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3557"/>
                </a:solidFill>
              </a:rPr>
              <a:t>Key metrics comparison:</a:t>
            </a:r>
            <a:endParaRPr lang="en-US" sz="850" dirty="0"/>
          </a:p>
        </p:txBody>
      </p:sp>
      <p:pic>
        <p:nvPicPr>
          <p:cNvPr id="27" name="Image 1" descr="/home/claude/chart_s5_to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2231136"/>
            <a:ext cx="3090672" cy="26974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29" name="Text 2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DATA INSIGHT — MARKET DISTRESS EVIDENCE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3557"/>
                </a:solidFill>
              </a:rPr>
              <a:t>Hotels Are Slashing Prices to Survive</a:t>
            </a:r>
            <a:endParaRPr lang="en-US" sz="2400" dirty="0"/>
          </a:p>
        </p:txBody>
      </p:sp>
      <p:pic>
        <p:nvPicPr>
          <p:cNvPr id="6" name="Image 0" descr="/home/claude/chart_s6_di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78992"/>
            <a:ext cx="5760720" cy="3767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115568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72200" y="1115568"/>
            <a:ext cx="2743200" cy="146304"/>
          </a:xfrm>
          <a:prstGeom prst="roundRect">
            <a:avLst>
              <a:gd name="adj" fmla="val 62500"/>
            </a:avLst>
          </a:prstGeom>
          <a:solidFill>
            <a:srgbClr val="D94F3D"/>
          </a:solidFill>
          <a:ln/>
        </p:spPr>
      </p:sp>
      <p:sp>
        <p:nvSpPr>
          <p:cNvPr id="9" name="Text 6"/>
          <p:cNvSpPr/>
          <p:nvPr/>
        </p:nvSpPr>
        <p:spPr>
          <a:xfrm>
            <a:off x="6281928" y="12984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Surat and Ahmedabad at 30%+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81928" y="1572768"/>
            <a:ext cx="25237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</a:rPr>
              <a:t>Oversupply in metros. Too many hotels, not enough guests. Classic market saturation.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72200" y="2176272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176272"/>
            <a:ext cx="2743200" cy="146304"/>
          </a:xfrm>
          <a:prstGeom prst="roundRect">
            <a:avLst>
              <a:gd name="adj" fmla="val 62500"/>
            </a:avLst>
          </a:prstGeom>
          <a:solidFill>
            <a:srgbClr val="E8A020"/>
          </a:solidFill>
          <a:ln/>
        </p:spPr>
      </p:sp>
      <p:sp>
        <p:nvSpPr>
          <p:cNvPr id="13" name="Text 10"/>
          <p:cNvSpPr/>
          <p:nvPr/>
        </p:nvSpPr>
        <p:spPr>
          <a:xfrm>
            <a:off x="6281928" y="23591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Somnath at 26.3%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81928" y="2633472"/>
            <a:ext cx="25237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</a:rPr>
              <a:t>97 hotels competing for the same pilgrim season. Boom-bust seasonality.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6172200" y="3236976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3236976"/>
            <a:ext cx="2743200" cy="146304"/>
          </a:xfrm>
          <a:prstGeom prst="roundRect">
            <a:avLst>
              <a:gd name="adj" fmla="val 62500"/>
            </a:avLst>
          </a:prstGeom>
          <a:solidFill>
            <a:srgbClr val="1A7A6E"/>
          </a:solidFill>
          <a:ln/>
        </p:spPr>
      </p:sp>
      <p:sp>
        <p:nvSpPr>
          <p:cNvPr id="17" name="Text 14"/>
          <p:cNvSpPr/>
          <p:nvPr/>
        </p:nvSpPr>
        <p:spPr>
          <a:xfrm>
            <a:off x="6281928" y="341985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Patan and Surendranagar lowest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81928" y="3694176"/>
            <a:ext cx="25237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</a:rPr>
              <a:t>Under 21% discount. Demand is real. They just need more supply.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6172200" y="4297680"/>
            <a:ext cx="27432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4297680"/>
            <a:ext cx="2743200" cy="146304"/>
          </a:xfrm>
          <a:prstGeom prst="roundRect">
            <a:avLst>
              <a:gd name="adj" fmla="val 62500"/>
            </a:avLst>
          </a:prstGeom>
          <a:solidFill>
            <a:srgbClr val="1C3557"/>
          </a:solidFill>
          <a:ln/>
        </p:spPr>
      </p:sp>
      <p:sp>
        <p:nvSpPr>
          <p:cNvPr id="21" name="Text 18"/>
          <p:cNvSpPr/>
          <p:nvPr/>
        </p:nvSpPr>
        <p:spPr>
          <a:xfrm>
            <a:off x="6281928" y="44805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Implication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81928" y="4754880"/>
            <a:ext cx="25237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</a:rPr>
              <a:t>Redirecting investment from saturated metros to Tier 1 relieves distress market-wide.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FINANCIAL ANALYSIS — RETURN ON INVESTMENT BY TIER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3557"/>
                </a:solidFill>
              </a:rPr>
              <a:t>Every Rupee Accounted For — ROI Across All Three Tiers</a:t>
            </a:r>
            <a:endParaRPr lang="en-US" sz="2400" dirty="0"/>
          </a:p>
        </p:txBody>
      </p:sp>
      <p:pic>
        <p:nvPicPr>
          <p:cNvPr id="6" name="Image 0" descr="/home/claude/chart_finan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78992"/>
            <a:ext cx="8631936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2608" y="3776472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3801618"/>
            <a:ext cx="2743200" cy="146304"/>
          </a:xfrm>
          <a:prstGeom prst="roundRect">
            <a:avLst>
              <a:gd name="adj" fmla="val 62500"/>
            </a:avLst>
          </a:prstGeom>
          <a:solidFill>
            <a:srgbClr val="D94F3D"/>
          </a:solidFill>
          <a:ln/>
        </p:spPr>
      </p:sp>
      <p:sp>
        <p:nvSpPr>
          <p:cNvPr id="9" name="Text 6"/>
          <p:cNvSpPr/>
          <p:nvPr/>
        </p:nvSpPr>
        <p:spPr>
          <a:xfrm>
            <a:off x="429768" y="392849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Tier 1 — Best return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02336" y="4242816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</a:rPr>
              <a:t>Rs 3,575 Cr in, Rs 8,937 Cr out. 150% ROI. Payback in 4 to 5 years because each rupee serves 6x less existing infrastructure.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3227832" y="3808476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82112" y="3794760"/>
            <a:ext cx="2743200" cy="146304"/>
          </a:xfrm>
          <a:prstGeom prst="roundRect">
            <a:avLst>
              <a:gd name="adj" fmla="val 62500"/>
            </a:avLst>
          </a:prstGeom>
          <a:solidFill>
            <a:srgbClr val="E8A020"/>
          </a:solidFill>
          <a:ln/>
        </p:spPr>
      </p:sp>
      <p:sp>
        <p:nvSpPr>
          <p:cNvPr id="13" name="Text 10"/>
          <p:cNvSpPr/>
          <p:nvPr/>
        </p:nvSpPr>
        <p:spPr>
          <a:xfrm>
            <a:off x="3291840" y="390677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Tier 2 — Solid return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10128" y="4242816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</a:rPr>
              <a:t>Rs 1,950 Cr in, Rs 3,900 Cr out. 100% ROI. Upgrade costs are higher per property but existing demand justifies investment.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6144768" y="380161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35624" y="3817620"/>
            <a:ext cx="2743200" cy="146304"/>
          </a:xfrm>
          <a:prstGeom prst="roundRect">
            <a:avLst>
              <a:gd name="adj" fmla="val 62500"/>
            </a:avLst>
          </a:prstGeom>
          <a:solidFill>
            <a:srgbClr val="1A7A6E"/>
          </a:solidFill>
          <a:ln/>
        </p:spPr>
      </p:sp>
      <p:sp>
        <p:nvSpPr>
          <p:cNvPr id="17" name="Text 14"/>
          <p:cNvSpPr/>
          <p:nvPr/>
        </p:nvSpPr>
        <p:spPr>
          <a:xfrm>
            <a:off x="6245352" y="394106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Tier 3 — Maintain only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08776" y="4249674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</a:rPr>
              <a:t>Rs 975 Cr in, Rs 1,170 Cr out. 20% ROI. Metros are saturated. Investment here is sustaining, not growing.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347472" y="4709160"/>
            <a:ext cx="8449056" cy="292608"/>
          </a:xfrm>
          <a:prstGeom prst="roundRect">
            <a:avLst>
              <a:gd name="adj" fmla="val 15625"/>
            </a:avLst>
          </a:prstGeom>
          <a:solidFill>
            <a:srgbClr val="1A7A6E"/>
          </a:solidFill>
          <a:ln/>
        </p:spPr>
      </p:sp>
      <p:sp>
        <p:nvSpPr>
          <p:cNvPr id="20" name="Text 17"/>
          <p:cNvSpPr/>
          <p:nvPr/>
        </p:nvSpPr>
        <p:spPr>
          <a:xfrm>
            <a:off x="347472" y="470916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FINANCIAL ANALYSIS — Budget allocation  |  ROI calculation  |  Multiplier analysis  |  Cost-benefit by tier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RECOMMENDATIONS — TIERED INVESTMENT ALLOCATION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3557"/>
                </a:solidFill>
              </a:rPr>
              <a:t>Rs 6,500 Crore Allocated by Supply-Quality Index Tiers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4048" y="10058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</a:rPr>
              <a:t>Budget split derives directly from data: Tier 1 = 14 destinations x highest SQI gap  |  Tier 2 = 7 destinations x medium gap  |  Tier 3 = 3 metros x lowest gap</a:t>
            </a:r>
            <a:endParaRPr lang="en-US" sz="850" dirty="0"/>
          </a:p>
        </p:txBody>
      </p:sp>
      <p:pic>
        <p:nvPicPr>
          <p:cNvPr id="7" name="Image 0" descr="/home/claude/chart_s7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298448"/>
            <a:ext cx="8631936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3218688"/>
            <a:ext cx="850392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3218688"/>
            <a:ext cx="658368" cy="521208"/>
          </a:xfrm>
          <a:prstGeom prst="roundRect">
            <a:avLst>
              <a:gd name="adj" fmla="val 14035"/>
            </a:avLst>
          </a:prstGeom>
          <a:solidFill>
            <a:srgbClr val="D94F3D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32278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TIER 1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20040" y="34015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55%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" y="358444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DE8F0"/>
                </a:solidFill>
              </a:rPr>
              <a:t>Rs 3,575 Cr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1042416" y="3255264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4F3D"/>
                </a:solidFill>
              </a:rPr>
              <a:t>Invest — 14 destinations (SQI 2.0+)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42416" y="3474720"/>
            <a:ext cx="7635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3333"/>
                </a:solidFill>
              </a:rPr>
              <a:t>300 new hotels by 2027  |  Heritage circuits: Patan, Surendranagar, Porbandar, Girnar +9 more  |  Pilgrimage infrastructure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320040" y="3794760"/>
            <a:ext cx="850392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3794760"/>
            <a:ext cx="658368" cy="521208"/>
          </a:xfrm>
          <a:prstGeom prst="roundRect">
            <a:avLst>
              <a:gd name="adj" fmla="val 14035"/>
            </a:avLst>
          </a:prstGeom>
          <a:solidFill>
            <a:srgbClr val="E8A020"/>
          </a:solidFill>
          <a:ln/>
        </p:spPr>
      </p:sp>
      <p:sp>
        <p:nvSpPr>
          <p:cNvPr id="17" name="Text 14"/>
          <p:cNvSpPr/>
          <p:nvPr/>
        </p:nvSpPr>
        <p:spPr>
          <a:xfrm>
            <a:off x="320040" y="38039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TIER 2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320040" y="39776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30%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0040" y="4160520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DE8F0"/>
                </a:solidFill>
              </a:rPr>
              <a:t>Rs 1,950 Cr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1042416" y="3831336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</a:rPr>
              <a:t>Upgrade — 7 destinations (SQI 1.5–2.0)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42416" y="4050792"/>
            <a:ext cx="7635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3333"/>
                </a:solidFill>
              </a:rPr>
              <a:t>Bhuj, Dwarka, Kutch, Rajkot, Somnath, Vadodara, Valsad — quality upgrades  |  Rann Utsav extension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320040" y="4370832"/>
            <a:ext cx="850392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" y="4370832"/>
            <a:ext cx="658368" cy="521208"/>
          </a:xfrm>
          <a:prstGeom prst="roundRect">
            <a:avLst>
              <a:gd name="adj" fmla="val 14035"/>
            </a:avLst>
          </a:prstGeom>
          <a:solidFill>
            <a:srgbClr val="1A7A6E"/>
          </a:solidFill>
          <a:ln/>
        </p:spPr>
      </p:sp>
      <p:sp>
        <p:nvSpPr>
          <p:cNvPr id="24" name="Text 21"/>
          <p:cNvSpPr/>
          <p:nvPr/>
        </p:nvSpPr>
        <p:spPr>
          <a:xfrm>
            <a:off x="320040" y="43799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TIER 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320040" y="45537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15%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0040" y="473659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DE8F0"/>
                </a:solidFill>
              </a:rPr>
              <a:t>Rs 975 Cr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1042416" y="440740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6E"/>
                </a:solidFill>
              </a:rPr>
              <a:t>Maintain — 3 metros (SQI &lt;1.5)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42416" y="4626864"/>
            <a:ext cx="7635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3333"/>
                </a:solidFill>
              </a:rPr>
              <a:t>Ahmedabad, Surat, Gandhinagar — sustain, digitise, redirect flow to Tier 1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FINANCIAL ANALYSIS — BUDGET DERIVATION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3557"/>
                </a:solidFill>
              </a:rPr>
              <a:t>The 55/30/15 Split is Not Arbitrary — It Follows the Data</a:t>
            </a:r>
            <a:endParaRPr lang="en-US" sz="2400" dirty="0"/>
          </a:p>
        </p:txBody>
      </p:sp>
      <p:pic>
        <p:nvPicPr>
          <p:cNvPr id="6" name="Image 0" descr="/home/claude/chart_s7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303520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11704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557"/>
                </a:solidFill>
              </a:rPr>
              <a:t>Why these percentages?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1572768"/>
            <a:ext cx="28803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35040" y="1572768"/>
            <a:ext cx="2880360" cy="146304"/>
          </a:xfrm>
          <a:prstGeom prst="roundRect">
            <a:avLst>
              <a:gd name="adj" fmla="val 62500"/>
            </a:avLst>
          </a:prstGeom>
          <a:solidFill>
            <a:srgbClr val="D94F3D"/>
          </a:solidFill>
          <a:ln/>
        </p:spPr>
      </p:sp>
      <p:sp>
        <p:nvSpPr>
          <p:cNvPr id="10" name="Text 7"/>
          <p:cNvSpPr/>
          <p:nvPr/>
        </p:nvSpPr>
        <p:spPr>
          <a:xfrm>
            <a:off x="6144768" y="1755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3557"/>
                </a:solidFill>
              </a:rPr>
              <a:t>Tier 1 gets 55%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44768" y="2029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14 destinations, avg 36 hotels each vs 227 for metros. Every rupee serves 6x less infrastructure. Return is highest.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35040" y="2670048"/>
            <a:ext cx="28803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2670048"/>
            <a:ext cx="2880360" cy="146304"/>
          </a:xfrm>
          <a:prstGeom prst="roundRect">
            <a:avLst>
              <a:gd name="adj" fmla="val 62500"/>
            </a:avLst>
          </a:prstGeom>
          <a:solidFill>
            <a:srgbClr val="E8A020"/>
          </a:solidFill>
          <a:ln/>
        </p:spPr>
      </p:sp>
      <p:sp>
        <p:nvSpPr>
          <p:cNvPr id="14" name="Text 11"/>
          <p:cNvSpPr/>
          <p:nvPr/>
        </p:nvSpPr>
        <p:spPr>
          <a:xfrm>
            <a:off x="6144768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3557"/>
                </a:solidFill>
              </a:rPr>
              <a:t>Tier 2 gets 30%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44768" y="3127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7 destinations with partial supply. Upgrade cost per property is higher than new-build on greenfield.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35040" y="3767328"/>
            <a:ext cx="28803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3767328"/>
            <a:ext cx="2880360" cy="146304"/>
          </a:xfrm>
          <a:prstGeom prst="roundRect">
            <a:avLst>
              <a:gd name="adj" fmla="val 62500"/>
            </a:avLst>
          </a:prstGeom>
          <a:solidFill>
            <a:srgbClr val="1A7A6E"/>
          </a:solidFill>
          <a:ln/>
        </p:spPr>
      </p:sp>
      <p:sp>
        <p:nvSpPr>
          <p:cNvPr id="18" name="Text 15"/>
          <p:cNvSpPr/>
          <p:nvPr/>
        </p:nvSpPr>
        <p:spPr>
          <a:xfrm>
            <a:off x="6144768" y="3950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3557"/>
                </a:solidFill>
              </a:rPr>
              <a:t>Tier 3 gets 15%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44768" y="4224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</a:rPr>
              <a:t>Metros hold 55.8% of supply already. Marginal return is the lowest of any investment in this framework.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47472" y="4709160"/>
            <a:ext cx="8449056" cy="292608"/>
          </a:xfrm>
          <a:prstGeom prst="roundRect">
            <a:avLst>
              <a:gd name="adj" fmla="val 15625"/>
            </a:avLst>
          </a:prstGeom>
          <a:solidFill>
            <a:srgbClr val="1A7A6E"/>
          </a:solidFill>
          <a:ln/>
        </p:spPr>
      </p:sp>
      <p:sp>
        <p:nvSpPr>
          <p:cNvPr id="21" name="Text 18"/>
          <p:cNvSpPr/>
          <p:nvPr/>
        </p:nvSpPr>
        <p:spPr>
          <a:xfrm>
            <a:off x="347472" y="470916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FINANCIAL ANALYSIS — Marginal return analysis  |  Cost per destination  |  Infrastructure leverage ratio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164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PROJECTED IMPACT — ALL FOUR EVALUATION PILLARS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3557"/>
                </a:solidFill>
              </a:rPr>
              <a:t>Quantified Outcomes Across All Four Pillars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011680" cy="1572768"/>
          </a:xfrm>
          <a:prstGeom prst="roundRect">
            <a:avLst>
              <a:gd name="adj" fmla="val 6977"/>
            </a:avLst>
          </a:prstGeom>
          <a:solidFill>
            <a:srgbClr val="1C3557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34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Economic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Development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Rs 8,937 Cr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8F0"/>
                </a:solidFill>
              </a:rPr>
              <a:t>gross output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E8F0"/>
                </a:solidFill>
              </a:rPr>
              <a:t>(2.5x NITI Aayog multiplier)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96312" y="1170432"/>
            <a:ext cx="2011680" cy="1572768"/>
          </a:xfrm>
          <a:prstGeom prst="roundRect">
            <a:avLst>
              <a:gd name="adj" fmla="val 6977"/>
            </a:avLst>
          </a:prstGeom>
          <a:solidFill>
            <a:srgbClr val="1A7A6E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96312" y="1234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Employment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96312" y="16459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2,400+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587752" y="2121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8F0"/>
                </a:solidFill>
              </a:rPr>
              <a:t>direct hospitality jobs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E8F0"/>
                </a:solidFill>
              </a:rPr>
              <a:t>300 hotels x 8 jobs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72584" y="1170432"/>
            <a:ext cx="2011680" cy="1572768"/>
          </a:xfrm>
          <a:prstGeom prst="roundRect">
            <a:avLst>
              <a:gd name="adj" fmla="val 6977"/>
            </a:avLst>
          </a:prstGeom>
          <a:solidFill>
            <a:srgbClr val="E8A02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72584" y="1234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Inclusion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72584" y="16459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14 districts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64024" y="2121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8F0"/>
                </a:solidFill>
              </a:rPr>
              <a:t>underserved destinations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E8F0"/>
                </a:solidFill>
              </a:rPr>
              <a:t>activated for first time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48856" y="1170432"/>
            <a:ext cx="2011680" cy="1572768"/>
          </a:xfrm>
          <a:prstGeom prst="roundRect">
            <a:avLst>
              <a:gd name="adj" fmla="val 6977"/>
            </a:avLst>
          </a:prstGeom>
          <a:solidFill>
            <a:srgbClr val="D94F3D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48856" y="1234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Environmental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Sustainability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48856" y="16459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55% to 30%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40296" y="2121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8F0"/>
                </a:solidFill>
              </a:rPr>
              <a:t>metro share target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E8F0"/>
                </a:solidFill>
              </a:rPr>
              <a:t>reducing over-tourism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2852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</a:rPr>
              <a:t>Destination-level transformation by 2028:</a:t>
            </a:r>
            <a:endParaRPr lang="en-US" sz="900" dirty="0"/>
          </a:p>
        </p:txBody>
      </p:sp>
      <p:pic>
        <p:nvPicPr>
          <p:cNvPr id="23" name="Image 0" descr="/home/claude/chart_s9_before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072384"/>
            <a:ext cx="8631936" cy="181051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274320" y="480060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4114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A020"/>
                </a:solidFill>
              </a:rPr>
              <a:t>THE BOTTOM 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804672"/>
            <a:ext cx="80467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Invest where tourism is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absent, not where it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already thrives.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</a:rPr>
              <a:t>55.8%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31638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DD"/>
                </a:solidFill>
              </a:rPr>
              <a:t>hotels in 3 metros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CCDD"/>
                </a:solidFill>
              </a:rPr>
              <a:t>structural imbalance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79192" y="274320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</a:rPr>
              <a:t>4.24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79192" y="31638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DD"/>
                </a:solidFill>
              </a:rPr>
              <a:t>highest SQI — Surendranagar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CCDD"/>
                </a:solidFill>
              </a:rPr>
              <a:t>only 7 hotels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64024" y="274320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</a:rPr>
              <a:t>14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64024" y="31638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DD"/>
                </a:solidFill>
              </a:rPr>
              <a:t>underserved destinations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CCDD"/>
                </a:solidFill>
              </a:rPr>
              <a:t>proven quality signals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48856" y="274320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</a:rPr>
              <a:t>Rs 8,937 Cr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48856" y="31638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DD"/>
                </a:solidFill>
              </a:rPr>
              <a:t>gross economic output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CCDD"/>
                </a:solidFill>
              </a:rPr>
              <a:t>Tier 1 investment alone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3703320"/>
            <a:ext cx="795528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4904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DD"/>
                </a:solidFill>
              </a:rPr>
              <a:t>The data does not suggest a balanced spread of investment. It demands a concentrated bet on 14 destinations where quality exists but supply does not. That is where Gujarat's Year of Tourism must plant its flag.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" y="4462272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1A7A6E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446227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3557"/>
                </a:solidFill>
              </a:rPr>
              <a:t>Data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C3557"/>
                </a:solidFill>
              </a:rPr>
              <a:t>Visualisation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304288" y="4462272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1A7A6E"/>
          </a:solidFill>
          <a:ln/>
        </p:spPr>
      </p:sp>
      <p:sp>
        <p:nvSpPr>
          <p:cNvPr id="20" name="Text 18"/>
          <p:cNvSpPr/>
          <p:nvPr/>
        </p:nvSpPr>
        <p:spPr>
          <a:xfrm>
            <a:off x="2304288" y="446227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3557"/>
                </a:solidFill>
              </a:rPr>
              <a:t>Predictive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C3557"/>
                </a:solidFill>
              </a:rPr>
              <a:t>Analytics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986784" y="4462272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1A7A6E"/>
          </a:solidFill>
          <a:ln/>
        </p:spPr>
      </p:sp>
      <p:sp>
        <p:nvSpPr>
          <p:cNvPr id="22" name="Text 20"/>
          <p:cNvSpPr/>
          <p:nvPr/>
        </p:nvSpPr>
        <p:spPr>
          <a:xfrm>
            <a:off x="3986784" y="446227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3557"/>
                </a:solidFill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C3557"/>
                </a:solidFill>
              </a:rPr>
              <a:t>Analysis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69280" y="4462272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1A7A6E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446227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3557"/>
                </a:solidFill>
              </a:rPr>
              <a:t>Statistical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C3557"/>
                </a:solidFill>
              </a:rPr>
              <a:t>Modelling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351776" y="4462272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1A7A6E"/>
          </a:solidFill>
          <a:ln/>
        </p:spPr>
      </p:sp>
      <p:sp>
        <p:nvSpPr>
          <p:cNvPr id="26" name="Text 24"/>
          <p:cNvSpPr/>
          <p:nvPr/>
        </p:nvSpPr>
        <p:spPr>
          <a:xfrm>
            <a:off x="7351776" y="446227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3557"/>
                </a:solidFill>
              </a:rPr>
              <a:t>Geographic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C3557"/>
                </a:solidFill>
              </a:rPr>
              <a:t>Analysis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1198</Words>
  <Application>Microsoft Office PowerPoint</Application>
  <PresentationFormat>On-screen Show (16:9)</PresentationFormat>
  <Paragraphs>201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Gujarat Tourism — All 5 Criteria Covered</dc:title>
  <dc:subject>PptxGenJS Presentation</dc:subject>
  <dc:creator>PptxGenJS</dc:creator>
  <cp:lastModifiedBy>bhupindergargtp@outlook.com</cp:lastModifiedBy>
  <cp:revision>6</cp:revision>
  <dcterms:created xsi:type="dcterms:W3CDTF">2026-06-12T08:46:13Z</dcterms:created>
  <dcterms:modified xsi:type="dcterms:W3CDTF">2026-06-12T09:24:04Z</dcterms:modified>
</cp:coreProperties>
</file>